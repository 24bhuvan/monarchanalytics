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MONARCH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Business Performance
Audit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Confidential | Prepared by Monarch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A261"/>
                </a:solidFill>
                <a:latin typeface="Calibri"/>
              </a:rPr>
              <a:t>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914400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7150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DATA-DRIVEN DECISIONS  |  REVENUE GROWTH  |  BUSINESS CLARITY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Key findings from the business performance audit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Total Revenue Analyzed: ₹154,000
• Lead-to-Sale Conversion: 73.3%
• Customer Acquisition Cost: ₹17,920
• Return on Ad Spend: 7.9x
• Customer LTV: ₹81,461
• Customer Retention Rate: 0.0%
• Gross Margin: 63.6%
• Revenue Leaks Detected: 1
• Estimated Revenue at Risk: ₹1,221,920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280160"/>
            <a:ext cx="3108960" cy="2011680"/>
          </a:xfrm>
          <a:prstGeom prst="rect">
            <a:avLst/>
          </a:prstGeom>
          <a:solidFill>
            <a:srgbClr val="1B4F72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200" b="1">
                <a:solidFill>
                  <a:srgbClr val="E63946"/>
                </a:solidFill>
              </a:rPr>
              <a:t>1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Revenue Leaks
Detected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3474720"/>
            <a:ext cx="3108960" cy="1645920"/>
          </a:xfrm>
          <a:prstGeom prst="rect">
            <a:avLst/>
          </a:prstGeom>
          <a:solidFill>
            <a:srgbClr val="1B4F72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4A261"/>
                </a:solidFill>
              </a:rPr>
              <a:t>₹1,221,920</a:t>
            </a:r>
          </a:p>
          <a:p>
            <a:pPr algn="ctr"/>
            <a:r>
              <a:rPr sz="1200">
                <a:solidFill>
                  <a:srgbClr val="A8DADC"/>
                </a:solidFill>
              </a:rPr>
              <a:t>Revenue at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Metrics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Core KPIs across sales, marketing, and customer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3716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₹154,000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Total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3716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₹14,000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Avg Deal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73.3%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Win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3716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7.9x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ROAS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₹17,920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CAC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7432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₹81,461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LTV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0.0%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Retention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2743200"/>
            <a:ext cx="1920240" cy="109728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63.6%</a:t>
            </a:r>
          </a:p>
          <a:p>
            <a:pPr algn="ctr"/>
            <a:r>
              <a:rPr sz="1000">
                <a:solidFill>
                  <a:srgbClr val="A8DADC"/>
                </a:solidFill>
                <a:latin typeface="Calibri"/>
              </a:rPr>
              <a:t>Gross Margin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Monthly revenue trend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Sales Funnel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Lead-to-close conversion performance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les_funn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Marketing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Channel performance and spend effectiveness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nn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CAC vs Customer Lifetime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Sustainability of customer acquisition investment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c_vs_l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Marketing Conversion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Impression-to-conversion drop-off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arketin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Customer Lifetime Value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Revenue concentration and value segmentation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t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Customer Segment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Revenue and retention by customer tier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ustomer_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Pareto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Top 20% of customers drive 46.1% of total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areto_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Revenue Leak Detection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Automated analysis of business performance gaps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371600"/>
            <a:ext cx="8595360" cy="777240"/>
          </a:xfrm>
          <a:prstGeom prst="rect">
            <a:avLst/>
          </a:prstGeom>
          <a:solidFill>
            <a:srgbClr val="1B4F72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[9/10] ⚠️  CUSTOMER CHURN ISSUE  —  Retention rate is 0.0%, below the 40% threshold. 15 customers have churned.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Fix | Improve | Ignore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Prioritized action plan based on impact and effort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280160"/>
            <a:ext cx="2743200" cy="4389120"/>
          </a:xfrm>
          <a:prstGeom prst="rect">
            <a:avLst/>
          </a:prstGeom>
          <a:solidFill>
            <a:srgbClr val="1B4F72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3946"/>
                </a:solidFill>
              </a:rPr>
              <a:t>🔴 FIX (Immediate)</a:t>
            </a:r>
          </a:p>
          <a:p>
            <a:r>
              <a:rPr sz="1000">
                <a:solidFill>
                  <a:srgbClr val="FFFFFF"/>
                </a:solidFill>
              </a:rPr>
              <a:t>• Customer Churn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280160"/>
            <a:ext cx="2743200" cy="4389120"/>
          </a:xfrm>
          <a:prstGeom prst="rect">
            <a:avLst/>
          </a:prstGeom>
          <a:solidFill>
            <a:srgbClr val="1B4F72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4A261"/>
                </a:solidFill>
              </a:rPr>
              <a:t>🟡 IMPROVE (This Quarter)</a:t>
            </a:r>
          </a:p>
          <a:p>
            <a:r>
              <a:rPr sz="1000">
                <a:solidFill>
                  <a:srgbClr val="A8DADC"/>
                </a:solidFill>
              </a:rPr>
              <a:t>• None identified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80160"/>
            <a:ext cx="2743200" cy="4389120"/>
          </a:xfrm>
          <a:prstGeom prst="rect">
            <a:avLst/>
          </a:prstGeom>
          <a:solidFill>
            <a:srgbClr val="1B4F72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CC71"/>
                </a:solidFill>
              </a:rPr>
              <a:t>🟢 IGNORE (Low Impact)</a:t>
            </a:r>
          </a:p>
          <a:p>
            <a:r>
              <a:rPr sz="1000">
                <a:solidFill>
                  <a:srgbClr val="A8DADC"/>
                </a:solidFill>
              </a:rPr>
              <a:t>• None identified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Prioritized steps to recover revenue and improve performance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1.  Implement customer success program. Add 30/60/90 day check-ins. Launch loyalty program and monitor NPS. Identify churn triggers in exit interviews.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90-Day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Execution timeline for audit recommendations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371600"/>
            <a:ext cx="2834640" cy="4206240"/>
          </a:xfrm>
          <a:prstGeom prst="rect">
            <a:avLst/>
          </a:prstGeom>
          <a:solidFill>
            <a:srgbClr val="1B4F72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4A261"/>
                </a:solidFill>
              </a:rPr>
              <a:t>Days 1–30</a:t>
            </a:r>
          </a:p>
          <a:p>
            <a:r>
              <a:t>Quick Wins</a:t>
            </a:r>
          </a:p>
          <a:p>
            <a:r>
              <a:rPr sz="1100">
                <a:solidFill>
                  <a:srgbClr val="FFFFFF"/>
                </a:solidFill>
              </a:rPr>
              <a:t>• Fix top funnel leaks</a:t>
            </a:r>
          </a:p>
          <a:p>
            <a:r>
              <a:rPr sz="1100">
                <a:solidFill>
                  <a:srgbClr val="FFFFFF"/>
                </a:solidFill>
              </a:rPr>
              <a:t>• Pause low-ROAS ad sets</a:t>
            </a:r>
          </a:p>
          <a:p>
            <a:r>
              <a:rPr sz="1100">
                <a:solidFill>
                  <a:srgbClr val="FFFFFF"/>
                </a:solidFill>
              </a:rPr>
              <a:t>• Launch churn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39" y="1371600"/>
            <a:ext cx="2834640" cy="4206240"/>
          </a:xfrm>
          <a:prstGeom prst="rect">
            <a:avLst/>
          </a:prstGeom>
          <a:solidFill>
            <a:srgbClr val="1B4F72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86AB"/>
                </a:solidFill>
              </a:rPr>
              <a:t>Days 31–60</a:t>
            </a:r>
          </a:p>
          <a:p>
            <a:r>
              <a:t>Growth Sprint</a:t>
            </a:r>
          </a:p>
          <a:p>
            <a:r>
              <a:rPr sz="1100">
                <a:solidFill>
                  <a:srgbClr val="FFFFFF"/>
                </a:solidFill>
              </a:rPr>
              <a:t>• Implement retention program</a:t>
            </a:r>
          </a:p>
          <a:p>
            <a:r>
              <a:rPr sz="1100">
                <a:solidFill>
                  <a:srgbClr val="FFFFFF"/>
                </a:solidFill>
              </a:rPr>
              <a:t>• Pricing review</a:t>
            </a:r>
          </a:p>
          <a:p>
            <a:r>
              <a:rPr sz="1100">
                <a:solidFill>
                  <a:srgbClr val="FFFFFF"/>
                </a:solidFill>
              </a:rPr>
              <a:t>• Sales enablement 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1371600"/>
            <a:ext cx="2834640" cy="4206240"/>
          </a:xfrm>
          <a:prstGeom prst="rect">
            <a:avLst/>
          </a:prstGeom>
          <a:solidFill>
            <a:srgbClr val="1B4F72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CC71"/>
                </a:solidFill>
              </a:rPr>
              <a:t>Days 61–90</a:t>
            </a:r>
          </a:p>
          <a:p>
            <a:r>
              <a:t>Scale Up</a:t>
            </a:r>
          </a:p>
          <a:p>
            <a:r>
              <a:rPr sz="1100">
                <a:solidFill>
                  <a:srgbClr val="FFFFFF"/>
                </a:solidFill>
              </a:rPr>
              <a:t>• Review KPI dashboard</a:t>
            </a:r>
          </a:p>
          <a:p>
            <a:r>
              <a:rPr sz="1100">
                <a:solidFill>
                  <a:srgbClr val="FFFFFF"/>
                </a:solidFill>
              </a:rPr>
              <a:t>• Measure improvements</a:t>
            </a:r>
          </a:p>
          <a:p>
            <a:r>
              <a:rPr sz="1100">
                <a:solidFill>
                  <a:srgbClr val="FFFFFF"/>
                </a:solidFill>
              </a:rPr>
              <a:t>• Expand winning channels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Financial Impact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Revenue recovery potential from addressing identified leaks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Total Revenue Analyzed:          ₹154,000
Revenue at Risk (Leaks):          ₹1,221,920
Revenue at Risk (%):               793.5%
If all recommendations are implemented:
  Estimated Revenue Recovery:  ₹733,152 – ₹1,099,728
  Conservative ROI on Audit:    12x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Sources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How this audit was conducted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Data Sources Analyzed:
  • Sales CRM Data (transactions, deal stages, pipeline)
  • Marketing Spend Data (channels, campaigns, ROAS)
  • Customer Database (LTV, retention, segments)
  • Product Catalog (pricing, margins, cost structure)
  • Operational Metrics (departmental KPIs)
Methodology:
  • Standardized data intake with format validation
  • Automated data cleaning and normalization
  • Rule-based revenue leak detection engine
  • Industry benchmark comparison
  • Pareto analysis for revenue concentration
  • Cohort-based customer segmentation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About Monarch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ADC"/>
                </a:solidFill>
                <a:latin typeface="Calibri"/>
              </a:rPr>
              <a:t>Your Business Intelligence Partner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97280"/>
            <a:ext cx="8412480" cy="0"/>
          </a:xfrm>
          <a:prstGeom prst="line">
            <a:avLst/>
          </a:prstGeom>
          <a:ln w="127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Monarch Analytics is a data intelligence firm that helps growth-stage
businesses unlock revenue trapped in underperforming systems.
We productize every audit — so your insights are delivered fast,
consistently, and with measurable financial impact.
Our Approach:
  • Standardized audit framework across all client engagements
  • Automated KPI calculation and revenue leak detection
  • Interactive dashboards and automated reporting
  • Actionable recommendations backed by data
Contact: hello@monarchanalytics.in  |  monarchanalytics.in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MONARCH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Continue the Growth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DADC"/>
                </a:solidFill>
                <a:latin typeface="Calibri"/>
              </a:rPr>
              <a:t>Monarch Analytics Retainer — Monthly Intelligence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✅  Monthly KPI Dashboard Updates
✅  Quarterly Business Performance Audits
✅  Dedicated Analytics Support (Slack / Email)
✅  Revenue Leak Monitoring Alerts
✅  Custom Dashboard &amp; Reporting
✅  Strategic Growth Advisory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303520"/>
            <a:ext cx="4572000" cy="731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1B2A"/>
                </a:solidFill>
              </a:rPr>
              <a:t>Schedule Your Strategy Call → monarchanalytics.in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MONARCH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8DADC"/>
                </a:solidFill>
                <a:latin typeface="Calibri"/>
              </a:rPr>
              <a:t>This report was automatically generated by the
Monarch Analytics Audit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A261"/>
                </a:solidFill>
                <a:latin typeface="Calibri"/>
              </a:rPr>
              <a:t>Data-Driven Decisions. Revenue Growth. Business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914400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742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CONFIDENTIAL  |  © Monarch Analytics  |  monarchanalytics.in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